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7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822960"/>
            <a:ext cx="4389120" cy="347472"/>
          </a:xfrm>
          <a:prstGeom prst="roundRect">
            <a:avLst/>
          </a:prstGeom>
          <a:solidFill>
            <a:srgbClr val="E8F0EA"/>
          </a:solidFill>
          <a:ln>
            <a:solidFill>
              <a:srgbClr val="7C9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B7D62"/>
                </a:solidFill>
              </a:defRPr>
            </a:pPr>
            <a:r>
              <a:t>IOT HEALTHCARE &amp; EMBEDDED SYSTEMS  |  PHASE 1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2D2D"/>
                </a:solidFill>
              </a:defRPr>
            </a:pPr>
            <a:r>
              <a:t>MedStrip: An IoT-Enabled Smart Clip System for Non-Invasive Medication Adherence Monitoring</a:t>
            </a:r>
          </a:p>
          <a:p>
            <a:pPr>
              <a:spcBef>
                <a:spcPts val="800"/>
              </a:spcBef>
              <a:defRPr sz="1400">
                <a:solidFill>
                  <a:srgbClr val="5B7D62"/>
                </a:solidFill>
              </a:defRPr>
            </a:pPr>
            <a:r>
              <a:t>System Architecture, Piezoresistive Transduction &amp; Real-Time Digital Twin (20%+ Milestone Proof of Concept)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4937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5B7D62"/>
                </a:solidFill>
              </a:defRPr>
            </a:pPr>
            <a:r>
              <a:rPr dirty="0"/>
              <a:t>PRESENTED BY</a:t>
            </a:r>
          </a:p>
          <a:p>
            <a:pPr>
              <a:spcBef>
                <a:spcPts val="600"/>
              </a:spcBef>
              <a:defRPr sz="1300" b="1">
                <a:solidFill>
                  <a:srgbClr val="2D2D2D"/>
                </a:solidFill>
              </a:defRPr>
            </a:pPr>
            <a:r>
              <a:rPr dirty="0"/>
              <a:t>Student Name: </a:t>
            </a:r>
            <a:r>
              <a:rPr lang="en-IN" dirty="0"/>
              <a:t> S Akhilesh   	25BCE5345</a:t>
            </a:r>
          </a:p>
          <a:p>
            <a:pPr>
              <a:spcBef>
                <a:spcPts val="600"/>
              </a:spcBef>
              <a:defRPr sz="1300" b="1">
                <a:solidFill>
                  <a:srgbClr val="2D2D2D"/>
                </a:solidFill>
              </a:defRPr>
            </a:pPr>
            <a:r>
              <a:rPr lang="en-IN" dirty="0"/>
              <a:t>		     Siddarth K P	25BCE5323</a:t>
            </a:r>
          </a:p>
          <a:p>
            <a:pPr>
              <a:spcBef>
                <a:spcPts val="600"/>
              </a:spcBef>
              <a:defRPr sz="1300" b="1">
                <a:solidFill>
                  <a:srgbClr val="2D2D2D"/>
                </a:solidFill>
              </a:defRPr>
            </a:pPr>
            <a:r>
              <a:rPr lang="en-IN" dirty="0"/>
              <a:t>		     K Tarun		25BCE5155</a:t>
            </a:r>
            <a:endParaRPr lang="en-US" dirty="0"/>
          </a:p>
          <a:p>
            <a:pPr>
              <a:spcBef>
                <a:spcPts val="400"/>
              </a:spcBef>
              <a:defRPr sz="1100">
                <a:solidFill>
                  <a:srgbClr val="7A7570"/>
                </a:solidFill>
              </a:defRPr>
            </a:pPr>
            <a:br>
              <a:rPr lang="en-US" dirty="0"/>
            </a:br>
            <a:r>
              <a:rPr lang="en-US" sz="1400" dirty="0"/>
              <a:t>Department of Computer Science &amp; Engineering</a:t>
            </a:r>
            <a:br>
              <a:rPr lang="en-US" sz="1200" dirty="0"/>
            </a:br>
            <a:r>
              <a:rPr lang="en-US" sz="1200" dirty="0"/>
              <a:t>Vellore Institute Of Technology - Chennai 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6309360" y="3657600"/>
            <a:ext cx="4937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5B7D62"/>
                </a:solidFill>
              </a:defRPr>
            </a:pPr>
            <a:r>
              <a:rPr dirty="0"/>
              <a:t>PROJECT SUPERVISOR / GUIDE</a:t>
            </a:r>
            <a:endParaRPr lang="en-IN" dirty="0"/>
          </a:p>
          <a:p>
            <a:pPr algn="ctr">
              <a:defRPr sz="1000" b="1">
                <a:solidFill>
                  <a:srgbClr val="5B7D6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defRPr sz="1300" b="1">
                <a:solidFill>
                  <a:srgbClr val="2D2D2D"/>
                </a:solidFill>
              </a:defRPr>
            </a:pPr>
            <a:r>
              <a:rPr dirty="0"/>
              <a:t>Guide Name: </a:t>
            </a:r>
            <a:r>
              <a:rPr lang="en-IN" dirty="0"/>
              <a:t>Dr. </a:t>
            </a:r>
            <a:r>
              <a:rPr lang="en-IN" dirty="0" err="1"/>
              <a:t>Umamaheswari</a:t>
            </a:r>
            <a:r>
              <a:rPr lang="en-IN" dirty="0"/>
              <a:t> E</a:t>
            </a:r>
            <a:endParaRPr dirty="0"/>
          </a:p>
          <a:p>
            <a:pPr>
              <a:spcBef>
                <a:spcPts val="400"/>
              </a:spcBef>
              <a:defRPr sz="1100">
                <a:solidFill>
                  <a:srgbClr val="7A7570"/>
                </a:solidFill>
              </a:defRPr>
            </a:pPr>
            <a:r>
              <a:rPr sz="1200" dirty="0"/>
              <a:t>Department of Computer Science &amp; Engineering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8F0EA"/>
          </a:solidFill>
          <a:ln w="9525">
            <a:solidFill>
              <a:srgbClr val="7C9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>
              <a:defRPr sz="950" b="1">
                <a:solidFill>
                  <a:srgbClr val="5B7D62"/>
                </a:solidFill>
              </a:defRPr>
            </a:pPr>
            <a:r>
              <a:t>●  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D2D2D"/>
                </a:solidFill>
              </a:defRPr>
            </a:pPr>
            <a:r>
              <a:t>Presentation 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594360" cy="365760"/>
          </a:xfrm>
          <a:prstGeom prst="roundRect">
            <a:avLst/>
          </a:prstGeom>
          <a:solidFill>
            <a:srgbClr val="E8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B7D62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8132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Introduction &amp; Clinical Problem</a:t>
            </a:r>
          </a:p>
          <a:p>
            <a:pPr>
              <a:spcBef>
                <a:spcPts val="200"/>
              </a:spcBef>
              <a:defRPr sz="950">
                <a:solidFill>
                  <a:srgbClr val="7A7570"/>
                </a:solidFill>
              </a:defRPr>
            </a:pPr>
            <a:r>
              <a:t>Real-world scale of adherence failures and why current reminder tools fail elderly patients.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94360" cy="365760"/>
          </a:xfrm>
          <a:prstGeom prst="roundRect">
            <a:avLst/>
          </a:prstGeom>
          <a:solidFill>
            <a:srgbClr val="E8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B7D62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48132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Literature Survey &amp; Prior Art</a:t>
            </a:r>
          </a:p>
          <a:p>
            <a:pPr>
              <a:spcBef>
                <a:spcPts val="200"/>
              </a:spcBef>
              <a:defRPr sz="950">
                <a:solidFill>
                  <a:srgbClr val="7A7570"/>
                </a:solidFill>
              </a:defRPr>
            </a:pPr>
            <a:r>
              <a:t>Critical comparative analysis of smart bottles, carousels, and printed conductive foils.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788920"/>
            <a:ext cx="594360" cy="365760"/>
          </a:xfrm>
          <a:prstGeom prst="roundRect">
            <a:avLst/>
          </a:prstGeom>
          <a:solidFill>
            <a:srgbClr val="E8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B7D62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71576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Challenges &amp; Research Gap</a:t>
            </a:r>
          </a:p>
          <a:p>
            <a:pPr>
              <a:spcBef>
                <a:spcPts val="200"/>
              </a:spcBef>
              <a:defRPr sz="950">
                <a:solidFill>
                  <a:srgbClr val="7A7570"/>
                </a:solidFill>
              </a:defRPr>
            </a:pPr>
            <a:r>
              <a:t>The 'decanting' dilemma, pressure noise filtering, and edge low-power constraints.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606040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09360" y="2788920"/>
            <a:ext cx="594360" cy="365760"/>
          </a:xfrm>
          <a:prstGeom prst="roundRect">
            <a:avLst/>
          </a:prstGeom>
          <a:solidFill>
            <a:srgbClr val="E8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B7D62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71576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Project Objectives</a:t>
            </a:r>
          </a:p>
          <a:p>
            <a:pPr>
              <a:spcBef>
                <a:spcPts val="200"/>
              </a:spcBef>
              <a:defRPr sz="950">
                <a:solidFill>
                  <a:srgbClr val="7A7570"/>
                </a:solidFill>
              </a:defRPr>
            </a:pPr>
            <a:r>
              <a:t>Concrete mechanical, sensing, firmware, and digital twin software milestones.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4023360"/>
            <a:ext cx="594360" cy="365760"/>
          </a:xfrm>
          <a:prstGeom prst="roundRect">
            <a:avLst/>
          </a:prstGeom>
          <a:solidFill>
            <a:srgbClr val="E8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B7D62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5020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Proposed Methodology &amp; Architecture</a:t>
            </a:r>
          </a:p>
          <a:p>
            <a:pPr>
              <a:spcBef>
                <a:spcPts val="200"/>
              </a:spcBef>
              <a:defRPr sz="950">
                <a:solidFill>
                  <a:srgbClr val="7A7570"/>
                </a:solidFill>
              </a:defRPr>
            </a:pPr>
            <a:r>
              <a:t>End-to-end signal pipeline: physical pressure spike to BLE 5.2 telemetry to cloud twin.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840480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09360" y="4023360"/>
            <a:ext cx="594360" cy="365760"/>
          </a:xfrm>
          <a:prstGeom prst="roundRect">
            <a:avLst/>
          </a:prstGeom>
          <a:solidFill>
            <a:srgbClr val="E8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B7D62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95020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Hardware Design &amp; Specifications</a:t>
            </a:r>
          </a:p>
          <a:p>
            <a:pPr>
              <a:spcBef>
                <a:spcPts val="200"/>
              </a:spcBef>
              <a:defRPr sz="950">
                <a:solidFill>
                  <a:srgbClr val="7A7570"/>
                </a:solidFill>
              </a:defRPr>
            </a:pPr>
            <a:r>
              <a:t>ESP32-C3 microcontroller, 8-channel FSR matrix, mechanical spring hinge, and 3.7V LiPo path.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74920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4400" y="5257800"/>
            <a:ext cx="594360" cy="365760"/>
          </a:xfrm>
          <a:prstGeom prst="roundRect">
            <a:avLst/>
          </a:prstGeom>
          <a:solidFill>
            <a:srgbClr val="E8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B7D62"/>
                </a:solidFill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18464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Initial Implementation (20%+ Milestone)</a:t>
            </a:r>
          </a:p>
          <a:p>
            <a:pPr>
              <a:spcBef>
                <a:spcPts val="200"/>
              </a:spcBef>
              <a:defRPr sz="950">
                <a:solidFill>
                  <a:srgbClr val="7A7570"/>
                </a:solidFill>
              </a:defRPr>
            </a:pPr>
            <a:r>
              <a:t>Working web telemetry dashboard, interactive digital twin, and uncramped mobile prototype.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5074920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09360" y="5257800"/>
            <a:ext cx="594360" cy="365760"/>
          </a:xfrm>
          <a:prstGeom prst="roundRect">
            <a:avLst/>
          </a:prstGeom>
          <a:solidFill>
            <a:srgbClr val="E8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B7D62"/>
                </a:solidFill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184648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Validation Status &amp; Next Steps</a:t>
            </a:r>
          </a:p>
          <a:p>
            <a:pPr>
              <a:spcBef>
                <a:spcPts val="200"/>
              </a:spcBef>
              <a:defRPr sz="950">
                <a:solidFill>
                  <a:srgbClr val="7A7570"/>
                </a:solidFill>
              </a:defRPr>
            </a:pPr>
            <a:r>
              <a:t>Verification of the 20% milestone, firmware power profiling, and Phase 2 testing protocol.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8F0EA"/>
          </a:solidFill>
          <a:ln w="9525">
            <a:solidFill>
              <a:srgbClr val="7C9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>
              <a:defRPr sz="950" b="1">
                <a:solidFill>
                  <a:srgbClr val="5B7D62"/>
                </a:solidFill>
              </a:defRPr>
            </a:pPr>
            <a:r>
              <a:t>● 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D2D2D"/>
                </a:solidFill>
              </a:defRPr>
            </a:pPr>
            <a:r>
              <a:t>Introduction &amp; Clinical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1887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8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C28127"/>
                </a:solidFill>
              </a:defRPr>
            </a:pPr>
            <a:r>
              <a:t>THE CLINICAL COST OF MEDICATION NON-ADHERENCE</a:t>
            </a:r>
          </a:p>
          <a:p>
            <a:pPr>
              <a:spcBef>
                <a:spcPts val="400"/>
              </a:spcBef>
              <a:defRPr sz="1050">
                <a:solidFill>
                  <a:srgbClr val="2D2D2D"/>
                </a:solidFill>
              </a:defRPr>
            </a:pPr>
            <a:r>
              <a:t>According to the World Health Organization (WHO), over 50% of patients with chronic diseases (hypertension, diabetes, cardiovascular conditions) fail to follow prescribed dosages. This leads to 125,000 avoidable deaths annually and $300B+ in emergency healthcare expenses.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Current Blister Packaging</a:t>
            </a:r>
          </a:p>
          <a:p>
            <a:pPr>
              <a:spcBef>
                <a:spcPts val="200"/>
              </a:spcBef>
              <a:defRPr sz="1000" b="1">
                <a:solidFill>
                  <a:srgbClr val="7A7570"/>
                </a:solidFill>
              </a:defRPr>
            </a:pPr>
            <a:r>
              <a:t>Zero Adherence Telemetry</a:t>
            </a:r>
          </a:p>
          <a:p>
            <a:pPr>
              <a:spcBef>
                <a:spcPts val="800"/>
              </a:spcBef>
              <a:defRPr sz="1000">
                <a:solidFill>
                  <a:srgbClr val="2D2D2D"/>
                </a:solidFill>
              </a:defRPr>
            </a:pPr>
            <a:r>
              <a:t>• 90% of chronic medications are sold in thermoformed blister strips for hygiene.</a:t>
            </a:r>
          </a:p>
          <a:p>
            <a:pPr>
              <a:spcBef>
                <a:spcPts val="800"/>
              </a:spcBef>
              <a:defRPr sz="1000">
                <a:solidFill>
                  <a:srgbClr val="2D2D2D"/>
                </a:solidFill>
              </a:defRPr>
            </a:pPr>
            <a:r>
              <a:t>• Patients frequently forget if they took a pill or accidentally double-dose.</a:t>
            </a:r>
          </a:p>
          <a:p>
            <a:pPr>
              <a:spcBef>
                <a:spcPts val="800"/>
              </a:spcBef>
              <a:defRPr sz="1000">
                <a:solidFill>
                  <a:srgbClr val="2D2D2D"/>
                </a:solidFill>
              </a:defRPr>
            </a:pPr>
            <a:r>
              <a:t>• Blister packaging is completely passive with zero digital record.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834640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Standard Mobile Reminders</a:t>
            </a:r>
          </a:p>
          <a:p>
            <a:pPr>
              <a:spcBef>
                <a:spcPts val="200"/>
              </a:spcBef>
              <a:defRPr sz="1000" b="1">
                <a:solidFill>
                  <a:srgbClr val="7A7570"/>
                </a:solidFill>
              </a:defRPr>
            </a:pPr>
            <a:r>
              <a:t>High Patient Abandonment</a:t>
            </a:r>
          </a:p>
          <a:p>
            <a:pPr>
              <a:spcBef>
                <a:spcPts val="800"/>
              </a:spcBef>
              <a:defRPr sz="1000">
                <a:solidFill>
                  <a:srgbClr val="2D2D2D"/>
                </a:solidFill>
              </a:defRPr>
            </a:pPr>
            <a:r>
              <a:t>• Reminder apps send push alarms that patients easily dismiss or ignore.</a:t>
            </a:r>
          </a:p>
          <a:p>
            <a:pPr>
              <a:spcBef>
                <a:spcPts val="800"/>
              </a:spcBef>
              <a:defRPr sz="1000">
                <a:solidFill>
                  <a:srgbClr val="2D2D2D"/>
                </a:solidFill>
              </a:defRPr>
            </a:pPr>
            <a:r>
              <a:t>• Users check off notifications without actually swallowing the tablet.</a:t>
            </a:r>
          </a:p>
          <a:p>
            <a:pPr>
              <a:spcBef>
                <a:spcPts val="800"/>
              </a:spcBef>
              <a:defRPr sz="1000">
                <a:solidFill>
                  <a:srgbClr val="2D2D2D"/>
                </a:solidFill>
              </a:defRPr>
            </a:pPr>
            <a:r>
              <a:t>• Over 80% abandonment rate within 90 days due to app fatigue.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834640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5B7D62"/>
                </a:solidFill>
              </a:defRPr>
            </a:pPr>
            <a:r>
              <a:t>The MedStrip Solution</a:t>
            </a:r>
          </a:p>
          <a:p>
            <a:pPr>
              <a:spcBef>
                <a:spcPts val="200"/>
              </a:spcBef>
              <a:defRPr sz="1000" b="1">
                <a:solidFill>
                  <a:srgbClr val="7C9A82"/>
                </a:solidFill>
              </a:defRPr>
            </a:pPr>
            <a:r>
              <a:t>Non-Invasive Physical Verification</a:t>
            </a:r>
          </a:p>
          <a:p>
            <a:pPr>
              <a:spcBef>
                <a:spcPts val="800"/>
              </a:spcBef>
              <a:defRPr sz="1000">
                <a:solidFill>
                  <a:srgbClr val="2D2D2D"/>
                </a:solidFill>
              </a:defRPr>
            </a:pPr>
            <a:r>
              <a:t>• A reusable, clip-on device that attaches directly to factory blister strips.</a:t>
            </a:r>
          </a:p>
          <a:p>
            <a:pPr>
              <a:spcBef>
                <a:spcPts val="800"/>
              </a:spcBef>
              <a:defRPr sz="1000">
                <a:solidFill>
                  <a:srgbClr val="2D2D2D"/>
                </a:solidFill>
              </a:defRPr>
            </a:pPr>
            <a:r>
              <a:t>• Detects the physical pressure spike (&gt;=1.2 bar) when a pill bursts the foil.</a:t>
            </a:r>
          </a:p>
          <a:p>
            <a:pPr>
              <a:spcBef>
                <a:spcPts val="800"/>
              </a:spcBef>
              <a:defRPr sz="1000">
                <a:solidFill>
                  <a:srgbClr val="2D2D2D"/>
                </a:solidFill>
              </a:defRPr>
            </a:pPr>
            <a:r>
              <a:t>• Requires zero change in patient habits and zero manual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8F0EA"/>
          </a:solidFill>
          <a:ln w="9525">
            <a:solidFill>
              <a:srgbClr val="7C9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>
              <a:defRPr sz="950" b="1">
                <a:solidFill>
                  <a:srgbClr val="5B7D62"/>
                </a:solidFill>
              </a:defRPr>
            </a:pPr>
            <a:r>
              <a:t>●  STATE OF THE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D2D2D"/>
                </a:solidFill>
              </a:defRPr>
            </a:pPr>
            <a:r>
              <a:t>Literature Survey &amp; Existing Solutions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875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Solution Category</a:t>
                      </a:r>
                    </a:p>
                  </a:txBody>
                  <a:tcPr>
                    <a:solidFill>
                      <a:srgbClr val="5B7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Working Principle</a:t>
                      </a:r>
                    </a:p>
                  </a:txBody>
                  <a:tcPr>
                    <a:solidFill>
                      <a:srgbClr val="5B7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Advantages</a:t>
                      </a:r>
                    </a:p>
                  </a:txBody>
                  <a:tcPr>
                    <a:solidFill>
                      <a:srgbClr val="5B7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Critical Deficiencies</a:t>
                      </a:r>
                    </a:p>
                  </a:txBody>
                  <a:tcPr>
                    <a:solidFill>
                      <a:srgbClr val="5B7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Blister Pack Compatible?</a:t>
                      </a:r>
                    </a:p>
                  </a:txBody>
                  <a:tcPr>
                    <a:solidFill>
                      <a:srgbClr val="5B7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Smart Pill Bottles</a:t>
                      </a:r>
                    </a:p>
                    <a:p>
                      <a:r>
                        <a:t>(AdhereTech, Pillsy)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Cap-open detection using magnetic reed switch or capacitive rim.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Easy integration for loose pills; automated alerts.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Only records cap opening, not ingestion; cannot use blister strips.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NO</a:t>
                      </a:r>
                    </a:p>
                    <a:p>
                      <a:r>
                        <a:t>(Bottles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Electronic Organizers</a:t>
                      </a:r>
                    </a:p>
                    <a:p>
                      <a:r>
                        <a:t>(Hero, Med-e-Lert)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Motorized carousel compartments with optical drop sensors.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Dispenses specific doses at scheduled intervals.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Extremely bulky ($200-$300); requires tedious weekly pill sorting.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NO</a:t>
                      </a:r>
                    </a:p>
                    <a:p>
                      <a:r>
                        <a:t>(Must Decant)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Printed Conductive Foils</a:t>
                      </a:r>
                    </a:p>
                    <a:p>
                      <a:r>
                        <a:t>(Smart Blister Traces)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Conductive silver ink printed on backing foil; broken on push.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Direct confirmation of foil puncture event.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Disposable electronics on every pack; high unit cost &amp; toxic e-waste.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t>YES</a:t>
                      </a:r>
                    </a:p>
                    <a:p>
                      <a:r>
                        <a:t>(Single-Use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MedStrip</a:t>
                      </a:r>
                    </a:p>
                    <a:p>
                      <a:r>
                        <a:t>(Our Proposed System)</a:t>
                      </a:r>
                    </a:p>
                  </a:txBody>
                  <a:tcPr>
                    <a:solidFill>
                      <a:srgbClr val="E8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Reusable spring clip with 8-channel piezoresistive FSR array.</a:t>
                      </a:r>
                    </a:p>
                  </a:txBody>
                  <a:tcPr>
                    <a:solidFill>
                      <a:srgbClr val="E8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100% reusable; zero decanting; real-time BLE 5.2 telemetry; low cost.</a:t>
                      </a:r>
                    </a:p>
                  </a:txBody>
                  <a:tcPr>
                    <a:solidFill>
                      <a:srgbClr val="E8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Requires calibration over standard cavity spacing.</a:t>
                      </a:r>
                    </a:p>
                  </a:txBody>
                  <a:tcPr>
                    <a:solidFill>
                      <a:srgbClr val="E8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D2D2D"/>
                          </a:solidFill>
                        </a:defRPr>
                      </a:pPr>
                      <a:r>
                        <a:t>YES</a:t>
                      </a:r>
                    </a:p>
                    <a:p>
                      <a:r>
                        <a:t>(100% Reusable Clip)</a:t>
                      </a:r>
                    </a:p>
                  </a:txBody>
                  <a:tcPr>
                    <a:solidFill>
                      <a:srgbClr val="E8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8F0EA"/>
          </a:solidFill>
          <a:ln w="9525">
            <a:solidFill>
              <a:srgbClr val="7C9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>
              <a:defRPr sz="950" b="1">
                <a:solidFill>
                  <a:srgbClr val="5B7D62"/>
                </a:solidFill>
              </a:defRPr>
            </a:pPr>
            <a:r>
              <a:t>●  PROBLEM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D2D2D"/>
                </a:solidFill>
              </a:defRPr>
            </a:pPr>
            <a:r>
              <a:t>Key Challenges &amp; Research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5B7D62"/>
                </a:solidFill>
              </a:defRPr>
            </a:pPr>
            <a:r>
              <a:t>GAP 1</a:t>
            </a:r>
          </a:p>
          <a:p>
            <a:pPr>
              <a:spcBef>
                <a:spcPts val="400"/>
              </a:spcBef>
              <a:defRPr sz="1300" b="1">
                <a:solidFill>
                  <a:srgbClr val="2D2D2D"/>
                </a:solidFill>
              </a:defRPr>
            </a:pPr>
            <a:r>
              <a:t>The 'Decanting' Dilemma in Real-World Healthcare</a:t>
            </a:r>
          </a:p>
          <a:p>
            <a:pPr>
              <a:spcBef>
                <a:spcPts val="200"/>
              </a:spcBef>
              <a:defRPr sz="1000" b="1">
                <a:solidFill>
                  <a:srgbClr val="7A7570"/>
                </a:solidFill>
              </a:defRPr>
            </a:pPr>
            <a:r>
              <a:t>Why existing smart boxes fail elderly patients</a:t>
            </a:r>
          </a:p>
          <a:p>
            <a:pPr>
              <a:spcBef>
                <a:spcPts val="800"/>
              </a:spcBef>
              <a:defRPr sz="950">
                <a:solidFill>
                  <a:srgbClr val="2D2D2D"/>
                </a:solidFill>
              </a:defRPr>
            </a:pPr>
            <a:r>
              <a:t>• Most critical pharmaceuticals (antibiotics, cardiac meds, BP tablets) are packaged in individual foil blisters to prevent oxidation and moisture damage.</a:t>
            </a:r>
          </a:p>
          <a:p>
            <a:pPr>
              <a:spcBef>
                <a:spcPts val="800"/>
              </a:spcBef>
              <a:defRPr sz="950">
                <a:solidFill>
                  <a:srgbClr val="2D2D2D"/>
                </a:solidFill>
              </a:defRPr>
            </a:pPr>
            <a:r>
              <a:t>• Forcing patients or elderly caregivers to manually pop pills out into weekly plastic boxes causes pill degradation, cross-contamination, and high friction.</a:t>
            </a:r>
          </a:p>
          <a:p>
            <a:pPr>
              <a:spcBef>
                <a:spcPts val="800"/>
              </a:spcBef>
              <a:defRPr sz="950">
                <a:solidFill>
                  <a:srgbClr val="2D2D2D"/>
                </a:solidFill>
              </a:defRPr>
            </a:pPr>
            <a:r>
              <a:t>• Research Gap: Lack of non-invasive sensors that monitor pills directly inside standard manufacturer blister packaging.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290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5B7D62"/>
                </a:solidFill>
              </a:defRPr>
            </a:pPr>
            <a:r>
              <a:t>GAP 2</a:t>
            </a:r>
          </a:p>
          <a:p>
            <a:pPr>
              <a:spcBef>
                <a:spcPts val="400"/>
              </a:spcBef>
              <a:defRPr sz="1300" b="1">
                <a:solidFill>
                  <a:srgbClr val="2D2D2D"/>
                </a:solidFill>
              </a:defRPr>
            </a:pPr>
            <a:r>
              <a:t>Signal Discrimination: Noise vs. Intentional Expulsion</a:t>
            </a:r>
          </a:p>
          <a:p>
            <a:pPr>
              <a:spcBef>
                <a:spcPts val="200"/>
              </a:spcBef>
              <a:defRPr sz="1000" b="1">
                <a:solidFill>
                  <a:srgbClr val="7A7570"/>
                </a:solidFill>
              </a:defRPr>
            </a:pPr>
            <a:r>
              <a:t>Preventing false alarms during daily transit</a:t>
            </a:r>
          </a:p>
          <a:p>
            <a:pPr>
              <a:spcBef>
                <a:spcPts val="800"/>
              </a:spcBef>
              <a:defRPr sz="950">
                <a:solidFill>
                  <a:srgbClr val="2D2D2D"/>
                </a:solidFill>
              </a:defRPr>
            </a:pPr>
            <a:r>
              <a:t>• Blister packs in pockets, purses, or bags undergo constant flexing, vibrations, and accidental contact with keys and wallets.</a:t>
            </a:r>
          </a:p>
          <a:p>
            <a:pPr>
              <a:spcBef>
                <a:spcPts val="800"/>
              </a:spcBef>
              <a:defRPr sz="950">
                <a:solidFill>
                  <a:srgbClr val="2D2D2D"/>
                </a:solidFill>
              </a:defRPr>
            </a:pPr>
            <a:r>
              <a:t>• A simple binary switch or loose contact sensor will generate false adherence events from gentle bumping.</a:t>
            </a:r>
          </a:p>
          <a:p>
            <a:pPr>
              <a:spcBef>
                <a:spcPts val="800"/>
              </a:spcBef>
              <a:defRPr sz="950">
                <a:solidFill>
                  <a:srgbClr val="2D2D2D"/>
                </a:solidFill>
              </a:defRPr>
            </a:pPr>
            <a:r>
              <a:t>• Research Gap: Formulating an edge pressure-differential algorithm that verifies both high threshold (Δp ≥ 1.2 bar) and characteristic deformation slope.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4290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5B7D62"/>
                </a:solidFill>
              </a:defRPr>
            </a:pPr>
            <a:r>
              <a:t>GAP 3</a:t>
            </a:r>
          </a:p>
          <a:p>
            <a:pPr>
              <a:spcBef>
                <a:spcPts val="400"/>
              </a:spcBef>
              <a:defRPr sz="1300" b="1">
                <a:solidFill>
                  <a:srgbClr val="2D2D2D"/>
                </a:solidFill>
              </a:defRPr>
            </a:pPr>
            <a:r>
              <a:t>Ultra-Low Power Constraints in a Miniature Footprint</a:t>
            </a:r>
          </a:p>
          <a:p>
            <a:pPr>
              <a:spcBef>
                <a:spcPts val="200"/>
              </a:spcBef>
              <a:defRPr sz="1000" b="1">
                <a:solidFill>
                  <a:srgbClr val="7A7570"/>
                </a:solidFill>
              </a:defRPr>
            </a:pPr>
            <a:r>
              <a:t>Sustaining weeks of battery on a 180 mAh cell</a:t>
            </a:r>
          </a:p>
          <a:p>
            <a:pPr>
              <a:spcBef>
                <a:spcPts val="800"/>
              </a:spcBef>
              <a:defRPr sz="950">
                <a:solidFill>
                  <a:srgbClr val="2D2D2D"/>
                </a:solidFill>
              </a:defRPr>
            </a:pPr>
            <a:r>
              <a:t>• Bulky battery packs destroy portability. The smart clip must weigh &lt;45g and slide smoothly into a pocket or travel kit.</a:t>
            </a:r>
          </a:p>
          <a:p>
            <a:pPr>
              <a:spcBef>
                <a:spcPts val="800"/>
              </a:spcBef>
              <a:defRPr sz="950">
                <a:solidFill>
                  <a:srgbClr val="2D2D2D"/>
                </a:solidFill>
              </a:defRPr>
            </a:pPr>
            <a:r>
              <a:t>• Continual Bluetooth advertising quickly depletes miniature LiPo batteries within 48 to 72 hours.</a:t>
            </a:r>
          </a:p>
          <a:p>
            <a:pPr>
              <a:spcBef>
                <a:spcPts val="800"/>
              </a:spcBef>
              <a:defRPr sz="950">
                <a:solidFill>
                  <a:srgbClr val="2D2D2D"/>
                </a:solidFill>
              </a:defRPr>
            </a:pPr>
            <a:r>
              <a:t>• Research Gap: Designing an interrupt-driven deep-sleep architecture (&lt;15 µA) waking the ESP32-C3 only when physical deformation occurs.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8F0EA"/>
          </a:solidFill>
          <a:ln w="9525">
            <a:solidFill>
              <a:srgbClr val="7C9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>
              <a:defRPr sz="950" b="1">
                <a:solidFill>
                  <a:srgbClr val="5B7D62"/>
                </a:solidFill>
              </a:defRPr>
            </a:pPr>
            <a:r>
              <a:t>●  SCOPE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D2D2D"/>
                </a:solidFill>
              </a:defRPr>
            </a:pPr>
            <a:r>
              <a:t>Project Objectives &amp; Milestone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26880" y="1645920"/>
            <a:ext cx="1920240" cy="329184"/>
          </a:xfrm>
          <a:prstGeom prst="roundRect">
            <a:avLst/>
          </a:prstGeom>
          <a:solidFill>
            <a:srgbClr val="E8F0EA"/>
          </a:solidFill>
          <a:ln w="9525">
            <a:solidFill>
              <a:srgbClr val="5B7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5B7D62"/>
                </a:solidFill>
              </a:defRPr>
            </a:pPr>
            <a:r>
              <a:t>MECHANICAL CAD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Objective 1: Ergonomic Mechanical Clip Fabrication</a:t>
            </a:r>
          </a:p>
          <a:p>
            <a:pPr>
              <a:spcBef>
                <a:spcPts val="200"/>
              </a:spcBef>
              <a:defRPr sz="950">
                <a:solidFill>
                  <a:srgbClr val="7A7570"/>
                </a:solidFill>
              </a:defRPr>
            </a:pPr>
            <a:r>
              <a:t>Design and 3D print a medical-grade spring-loaded clip accommodating blister strips of varying thickness (0.4mm to 1.8mm) with quick-release jaws.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728655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26880" y="2651760"/>
            <a:ext cx="1920240" cy="329184"/>
          </a:xfrm>
          <a:prstGeom prst="roundRect">
            <a:avLst/>
          </a:prstGeom>
          <a:solidFill>
            <a:srgbClr val="E8F0EA"/>
          </a:solidFill>
          <a:ln w="9525">
            <a:solidFill>
              <a:srgbClr val="5B7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5B7D62"/>
                </a:solidFill>
              </a:defRPr>
            </a:pPr>
            <a:r>
              <a:t>SENSOR SCHEMATIC MAPPED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Objective 2: Multi-Channel Piezoresistive Sensor Strip</a:t>
            </a:r>
          </a:p>
          <a:p>
            <a:pPr>
              <a:spcBef>
                <a:spcPts val="200"/>
              </a:spcBef>
              <a:defRPr sz="950">
                <a:solidFill>
                  <a:srgbClr val="7A7570"/>
                </a:solidFill>
              </a:defRPr>
            </a:pPr>
            <a:r>
              <a:t>Develop a flexible 8-channel force-sensing resistor (FSR) array aligned over individual blister pockets capable of detecting analog force gradients (0.2 - 2.5 bar).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728655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326880" y="3657600"/>
            <a:ext cx="1920240" cy="329184"/>
          </a:xfrm>
          <a:prstGeom prst="roundRect">
            <a:avLst/>
          </a:prstGeom>
          <a:solidFill>
            <a:srgbClr val="E8F0EA"/>
          </a:solidFill>
          <a:ln w="9525">
            <a:solidFill>
              <a:srgbClr val="5B7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5B7D62"/>
                </a:solidFill>
              </a:defRPr>
            </a:pPr>
            <a:r>
              <a:t>FIRMWARE PIPELINE DEFINED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Objective 3: Low-Power Firmware &amp; Edge Discrimination</a:t>
            </a:r>
          </a:p>
          <a:p>
            <a:pPr>
              <a:spcBef>
                <a:spcPts val="200"/>
              </a:spcBef>
              <a:defRPr sz="950">
                <a:solidFill>
                  <a:srgbClr val="7A7570"/>
                </a:solidFill>
              </a:defRPr>
            </a:pPr>
            <a:r>
              <a:t>Implement ESP32-C3 firmware featuring automatic baseline resistance calibration on clamp, interrupt-driven wake-up, and BLE 5.2 GATT server notification (0x180D).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728655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326880" y="4663440"/>
            <a:ext cx="1920240" cy="329184"/>
          </a:xfrm>
          <a:prstGeom prst="roundRect">
            <a:avLst/>
          </a:prstGeom>
          <a:solidFill>
            <a:srgbClr val="E8F0EA"/>
          </a:solidFill>
          <a:ln w="9525">
            <a:solidFill>
              <a:srgbClr val="5B7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5B7D62"/>
                </a:solidFill>
              </a:defRPr>
            </a:pPr>
            <a:r>
              <a:t>OPERATIONAL IN WEB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Objective 4: Real-Time Digital Twin &amp; Telemetry Dashboard</a:t>
            </a:r>
          </a:p>
          <a:p>
            <a:pPr>
              <a:spcBef>
                <a:spcPts val="200"/>
              </a:spcBef>
              <a:defRPr sz="950">
                <a:solidFill>
                  <a:srgbClr val="7A7570"/>
                </a:solidFill>
              </a:defRPr>
            </a:pPr>
            <a:r>
              <a:t>Build an interactive web telemetry dashboard for clinicians and evaluators featuring real-time cavity deformation animation, adherence scoring, and audit logging.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728655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326880" y="5669280"/>
            <a:ext cx="1920240" cy="329184"/>
          </a:xfrm>
          <a:prstGeom prst="roundRect">
            <a:avLst/>
          </a:prstGeom>
          <a:solidFill>
            <a:srgbClr val="E8F0EA"/>
          </a:solidFill>
          <a:ln w="9525">
            <a:solidFill>
              <a:srgbClr val="C28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C28127"/>
                </a:solidFill>
              </a:defRPr>
            </a:pPr>
            <a:r>
              <a:t>FULLY FUNCTIONAL (REVIEW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Objective 5: Patient Mobile Prototype &amp; Laptop Time Controller</a:t>
            </a:r>
          </a:p>
          <a:p>
            <a:pPr>
              <a:spcBef>
                <a:spcPts val="200"/>
              </a:spcBef>
              <a:defRPr sz="950">
                <a:solidFill>
                  <a:srgbClr val="7A7570"/>
                </a:solidFill>
              </a:defRPr>
            </a:pPr>
            <a:r>
              <a:t>Deliver a native-feel mobile interface with uncramped 2x2 metric cards, live laptop clock synchronization, and demo preset time jumps for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8F0EA"/>
          </a:solidFill>
          <a:ln w="9525">
            <a:solidFill>
              <a:srgbClr val="7C9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>
              <a:defRPr sz="950" b="1">
                <a:solidFill>
                  <a:srgbClr val="5B7D62"/>
                </a:solidFill>
              </a:defRPr>
            </a:pPr>
            <a:r>
              <a:t>●  HARDWARE &amp; SENSING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D2D2D"/>
                </a:solidFill>
              </a:defRPr>
            </a:pPr>
            <a:r>
              <a:t>Proposed Methodology &amp;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5B7D62"/>
                </a:solidFill>
              </a:defRPr>
            </a:pPr>
            <a:r>
              <a:t>HARDWARE TRANSDUCTION PIPELINE</a:t>
            </a:r>
          </a:p>
          <a:p>
            <a:pPr>
              <a:spcBef>
                <a:spcPts val="400"/>
              </a:spcBef>
              <a:defRPr sz="950" b="1">
                <a:solidFill>
                  <a:srgbClr val="2D2D2D"/>
                </a:solidFill>
              </a:defRPr>
            </a:pPr>
            <a:r>
              <a:t>Physical Force (Δp ≥ 1.2 bar) ➔ Piezoresistive FSR ➔ Analog Resistance Gradient ➔ ESP32-C3 ADC ➔ BLE 5.2 GATT (0x180D) ➔ Digital Twin UI</a:t>
            </a:r>
          </a:p>
          <a:p>
            <a:pPr>
              <a:spcBef>
                <a:spcPts val="600"/>
              </a:spcBef>
              <a:defRPr sz="1000" b="1">
                <a:solidFill>
                  <a:srgbClr val="5B7D62"/>
                </a:solidFill>
              </a:defRPr>
            </a:pPr>
            <a:r>
              <a:t>• Microcontroller:</a:t>
            </a:r>
          </a:p>
          <a:p>
            <a:pPr>
              <a:defRPr sz="900">
                <a:solidFill>
                  <a:srgbClr val="7A7570"/>
                </a:solidFill>
              </a:defRPr>
            </a:pPr>
            <a:r>
              <a:t>   ESP32-C3 RISC-V 32-bit single-core, 160 MHz clock, integrated BLE 5.2 &amp; Wi-Fi 4.</a:t>
            </a:r>
          </a:p>
          <a:p>
            <a:pPr>
              <a:spcBef>
                <a:spcPts val="600"/>
              </a:spcBef>
              <a:defRPr sz="1000" b="1">
                <a:solidFill>
                  <a:srgbClr val="5B7D62"/>
                </a:solidFill>
              </a:defRPr>
            </a:pPr>
            <a:r>
              <a:t>• Sensing Matrix:</a:t>
            </a:r>
          </a:p>
          <a:p>
            <a:pPr>
              <a:defRPr sz="900">
                <a:solidFill>
                  <a:srgbClr val="7A7570"/>
                </a:solidFill>
              </a:defRPr>
            </a:pPr>
            <a:r>
              <a:t>   8-channel flexible piezoresistive pressure strip (ADC Channels GPIO 0-7), 10-bit resolution.</a:t>
            </a:r>
          </a:p>
          <a:p>
            <a:pPr>
              <a:spcBef>
                <a:spcPts val="600"/>
              </a:spcBef>
              <a:defRPr sz="1000" b="1">
                <a:solidFill>
                  <a:srgbClr val="5B7D62"/>
                </a:solidFill>
              </a:defRPr>
            </a:pPr>
            <a:r>
              <a:t>• Expulsion Threshold:</a:t>
            </a:r>
          </a:p>
          <a:p>
            <a:pPr>
              <a:defRPr sz="900">
                <a:solidFill>
                  <a:srgbClr val="7A7570"/>
                </a:solidFill>
              </a:defRPr>
            </a:pPr>
            <a:r>
              <a:t>   Dynamic differential calibration with nominal trigger set at Δp ≥ 1.2 bar pressure spike.</a:t>
            </a:r>
          </a:p>
          <a:p>
            <a:pPr>
              <a:spcBef>
                <a:spcPts val="600"/>
              </a:spcBef>
              <a:defRPr sz="1000" b="1">
                <a:solidFill>
                  <a:srgbClr val="5B7D62"/>
                </a:solidFill>
              </a:defRPr>
            </a:pPr>
            <a:r>
              <a:t>• Power Management:</a:t>
            </a:r>
          </a:p>
          <a:p>
            <a:pPr>
              <a:defRPr sz="900">
                <a:solidFill>
                  <a:srgbClr val="7A7570"/>
                </a:solidFill>
              </a:defRPr>
            </a:pPr>
            <a:r>
              <a:t>   180 mAh 3.7V rechargeable LiPo cell; TP4056 USB-C charging IC; 15 µA deep sleep mode.</a:t>
            </a:r>
          </a:p>
          <a:p>
            <a:pPr>
              <a:spcBef>
                <a:spcPts val="600"/>
              </a:spcBef>
              <a:defRPr sz="1000" b="1">
                <a:solidFill>
                  <a:srgbClr val="5B7D62"/>
                </a:solidFill>
              </a:defRPr>
            </a:pPr>
            <a:r>
              <a:t>• Enclosure Geometry:</a:t>
            </a:r>
          </a:p>
          <a:p>
            <a:pPr>
              <a:defRPr sz="900">
                <a:solidFill>
                  <a:srgbClr val="7A7570"/>
                </a:solidFill>
              </a:defRPr>
            </a:pPr>
            <a:r>
              <a:t>   Ergonomic 3D clip with torsional spring hinge; non-invasive clamp securing pharmacy foil.</a:t>
            </a:r>
          </a:p>
        </p:txBody>
      </p:sp>
      <p:pic>
        <p:nvPicPr>
          <p:cNvPr id="6" name="Picture 5" descr="media_17901313753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9089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E8F0EA"/>
          </a:solidFill>
          <a:ln w="9525">
            <a:solidFill>
              <a:srgbClr val="7C9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>
              <a:defRPr sz="950" b="1">
                <a:solidFill>
                  <a:srgbClr val="5B7D62"/>
                </a:solidFill>
              </a:defRPr>
            </a:pPr>
            <a:r>
              <a:t>●  PROTOTYPE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D2D2D"/>
                </a:solidFill>
              </a:defRPr>
            </a:pPr>
            <a:r>
              <a:t>Results / Initial Working Implementation (20%+ Milestone)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5B7D62"/>
                </a:solidFill>
              </a:defRPr>
            </a:pPr>
            <a:r>
              <a:t>MILESTONE DELIVERABLES SUMMARY (PHASE 1)</a:t>
            </a:r>
          </a:p>
          <a:p>
            <a:pPr>
              <a:spcBef>
                <a:spcPts val="600"/>
              </a:spcBef>
              <a:defRPr sz="1000" b="1">
                <a:solidFill>
                  <a:srgbClr val="5B7D62"/>
                </a:solidFill>
              </a:defRPr>
            </a:pPr>
            <a:r>
              <a:t>✔  Live Digital Twin Mirroring</a:t>
            </a:r>
          </a:p>
          <a:p>
            <a:pPr>
              <a:defRPr sz="880">
                <a:solidFill>
                  <a:srgbClr val="7A7570"/>
                </a:solidFill>
              </a:defRPr>
            </a:pPr>
            <a:r>
              <a:t>    Real-time state engine in AppContext tracking individual cavities (intact vs punctured), animating foil deformation on expulsion event.</a:t>
            </a:r>
          </a:p>
          <a:p>
            <a:pPr>
              <a:spcBef>
                <a:spcPts val="600"/>
              </a:spcBef>
              <a:defRPr sz="1000" b="1">
                <a:solidFill>
                  <a:srgbClr val="5B7D62"/>
                </a:solidFill>
              </a:defRPr>
            </a:pPr>
            <a:r>
              <a:t>✔  Web Telemetry Dashboard</a:t>
            </a:r>
          </a:p>
          <a:p>
            <a:pPr>
              <a:defRPr sz="880">
                <a:solidFill>
                  <a:srgbClr val="7A7570"/>
                </a:solidFill>
              </a:defRPr>
            </a:pPr>
            <a:r>
              <a:t>    Automated compliance metrics (100% adherence, 7/8 pills remaining, 88% battery), active BLE hardware diagnostic badge, and interactive routine manager.</a:t>
            </a:r>
          </a:p>
          <a:p>
            <a:pPr>
              <a:spcBef>
                <a:spcPts val="600"/>
              </a:spcBef>
              <a:defRPr sz="1000" b="1">
                <a:solidFill>
                  <a:srgbClr val="5B7D62"/>
                </a:solidFill>
              </a:defRPr>
            </a:pPr>
            <a:r>
              <a:t>✔  Laptop Time Synchronization</a:t>
            </a:r>
          </a:p>
          <a:p>
            <a:pPr>
              <a:defRPr sz="880">
                <a:solidFill>
                  <a:srgbClr val="7A7570"/>
                </a:solidFill>
              </a:defRPr>
            </a:pPr>
            <a:r>
              <a:t>    Live system clock integration ticking in sync with laptop time; interactive modal with 1-click evaluation presets (8:00 AM, 8:02 AM, 2:00 PM, 8:00 PM).</a:t>
            </a:r>
          </a:p>
          <a:p>
            <a:pPr>
              <a:spcBef>
                <a:spcPts val="600"/>
              </a:spcBef>
              <a:defRPr sz="1000" b="1">
                <a:solidFill>
                  <a:srgbClr val="5B7D62"/>
                </a:solidFill>
              </a:defRPr>
            </a:pPr>
            <a:r>
              <a:t>✔  Uncramped Mobile Prototype</a:t>
            </a:r>
          </a:p>
          <a:p>
            <a:pPr>
              <a:defRPr sz="880">
                <a:solidFill>
                  <a:srgbClr val="7A7570"/>
                </a:solidFill>
              </a:defRPr>
            </a:pPr>
            <a:r>
              <a:t>    Spacious 2x2 metric layout, dedicated bottom navigation (Today, Strip, Routine, Activity, Device), and responsive patient view.</a:t>
            </a:r>
          </a:p>
          <a:p>
            <a:pPr>
              <a:spcBef>
                <a:spcPts val="600"/>
              </a:spcBef>
              <a:defRPr sz="1000" b="1">
                <a:solidFill>
                  <a:srgbClr val="5B7D62"/>
                </a:solidFill>
              </a:defRPr>
            </a:pPr>
            <a:r>
              <a:t>✔  Zero Black Colors Guarantee</a:t>
            </a:r>
          </a:p>
          <a:p>
            <a:pPr>
              <a:defRPr sz="880">
                <a:solidFill>
                  <a:srgbClr val="7A7570"/>
                </a:solidFill>
              </a:defRPr>
            </a:pPr>
            <a:r>
              <a:t>    Calming warm ivory (#FAF8F5), pure white surfaces, and sage green brand identity matching clinical guidelines.</a:t>
            </a:r>
          </a:p>
        </p:txBody>
      </p:sp>
      <p:pic>
        <p:nvPicPr>
          <p:cNvPr id="6" name="Picture 5" descr="media_17901314227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90895" cy="2377440"/>
          </a:xfrm>
          <a:prstGeom prst="rect">
            <a:avLst/>
          </a:prstGeom>
        </p:spPr>
      </p:pic>
      <p:pic>
        <p:nvPicPr>
          <p:cNvPr id="7" name="Picture 6" descr="media_17901316168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886200"/>
            <a:ext cx="5790895" cy="2423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1412</Words>
  <Application>Microsoft Office PowerPoint</Application>
  <PresentationFormat>Widescreen</PresentationFormat>
  <Paragraphs>156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akhilesh012008@outlook.com</cp:lastModifiedBy>
  <cp:revision>2</cp:revision>
  <dcterms:created xsi:type="dcterms:W3CDTF">2013-01-27T09:14:16Z</dcterms:created>
  <dcterms:modified xsi:type="dcterms:W3CDTF">2026-09-23T03:38:31Z</dcterms:modified>
  <cp:category/>
</cp:coreProperties>
</file>