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70" r:id="rId11"/>
    <p:sldId id="265" r:id="rId12"/>
    <p:sldId id="267" r:id="rId13"/>
    <p:sldId id="269" r:id="rId14"/>
    <p:sldId id="268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637"/>
  </p:normalViewPr>
  <p:slideViewPr>
    <p:cSldViewPr snapToGrid="0" snapToObjects="1">
      <p:cViewPr varScale="1">
        <p:scale>
          <a:sx n="82" d="100"/>
          <a:sy n="82" d="100"/>
        </p:scale>
        <p:origin x="96" y="2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FD9824-EC80-4335-B38C-E53E8BE2956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022C-A9CE-433E-A499-FE58723753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005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6022C-A9CE-433E-A499-FE58723753C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02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5207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00000"/>
                </a:solidFill>
                <a:latin typeface="Arial"/>
              </a:defRPr>
            </a:pPr>
            <a:r>
              <a:t>MEDSTRIP: SMART BLISTER CLIP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Name(s): 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700" b="0">
                <a:solidFill>
                  <a:srgbClr val="000000"/>
                </a:solidFill>
                <a:latin typeface="Arial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 Akhilesh     25BCE534</a:t>
            </a:r>
          </a:p>
          <a:p>
            <a:pPr>
              <a:defRPr sz="1700" b="0">
                <a:solidFill>
                  <a:srgbClr val="000000"/>
                </a:solidFill>
                <a:latin typeface="Arial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Siddarth K P  25BCE5323</a:t>
            </a:r>
          </a:p>
          <a:p>
            <a:pPr>
              <a:defRPr sz="1700" b="0">
                <a:solidFill>
                  <a:srgbClr val="000000"/>
                </a:solidFill>
                <a:latin typeface="Arial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K Tarun         25BCE5155</a:t>
            </a:r>
          </a:p>
          <a:p>
            <a:pPr>
              <a:defRPr sz="1700" b="0">
                <a:solidFill>
                  <a:srgbClr val="000000"/>
                </a:solidFill>
                <a:latin typeface="Arial"/>
              </a:defRPr>
            </a:pP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Umamaheswari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- Associate Professor SCOPE</a:t>
            </a:r>
          </a:p>
          <a:p>
            <a:pPr>
              <a:defRPr sz="1700" b="0">
                <a:solidFill>
                  <a:srgbClr val="000000"/>
                </a:solidFill>
                <a:latin typeface="Arial"/>
              </a:defRPr>
            </a:pP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Vellore Institute of Technology – Chennai</a:t>
            </a:r>
          </a:p>
          <a:p>
            <a:pPr>
              <a:defRPr sz="1700" b="0">
                <a:solidFill>
                  <a:srgbClr val="000000"/>
                </a:solidFill>
                <a:latin typeface="Arial"/>
              </a:defRPr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Name: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and Engineering</a:t>
            </a:r>
          </a:p>
          <a:p>
            <a:pPr>
              <a:defRPr sz="1700" b="0">
                <a:solidFill>
                  <a:srgbClr val="000000"/>
                </a:solidFill>
                <a:latin typeface="Arial"/>
              </a:defRPr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&amp; Branch: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BTECH – Computer Science and Engineering 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66857" y="1547667"/>
            <a:ext cx="882780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dirty="0"/>
              <a:t>IoT-Enabled Smart Clip System for Non-Invasive Medication Adherence Monitoring</a:t>
            </a: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dirty="0"/>
              <a:t>Review II: Innovative Design Project (IDP)</a:t>
            </a:r>
          </a:p>
          <a:p>
            <a:pPr algn="ctr"/>
            <a:r>
              <a:rPr dirty="0"/>
              <a:t>Project ID: 202600</a:t>
            </a:r>
            <a:r>
              <a:rPr lang="en-IN" dirty="0"/>
              <a:t>701</a:t>
            </a:r>
            <a:endParaRPr dirty="0"/>
          </a:p>
          <a:p>
            <a:pPr algn="ctr"/>
            <a:endParaRPr lang="en-IN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4938" y="1214147"/>
            <a:ext cx="10562602" cy="3548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t>Introduction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t>Literature Survey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t>Challenges &amp; Research Gap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t>Project Objectives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t>Proposed Methodology &amp; System Architecture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t>Results / Initial Working Implementation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t>References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17265"/>
            <a:ext cx="182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</a:rPr>
              <a:t>Problem</a:t>
            </a:r>
            <a:r>
              <a:rPr lang="en-IN" dirty="0">
                <a:latin typeface="Times New Roman" panose="02020603050405020304" pitchFamily="18" charset="0"/>
              </a:rPr>
              <a:t>s:</a:t>
            </a: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617375"/>
            <a:ext cx="10058400" cy="2736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1700">
                <a:solidFill>
                  <a:srgbClr val="000000"/>
                </a:solidFill>
                <a:latin typeface="Arial"/>
              </a:defRPr>
            </a:pPr>
            <a:r>
              <a:rPr sz="1600" dirty="0"/>
              <a:t>Over 50% of chronic disease patients fail to adhere to prescribed medication regimens (WHO).</a:t>
            </a:r>
          </a:p>
          <a:p>
            <a:pPr marL="457200" indent="-4572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1700">
                <a:solidFill>
                  <a:srgbClr val="000000"/>
                </a:solidFill>
                <a:latin typeface="Arial"/>
              </a:defRPr>
            </a:pPr>
            <a:r>
              <a:rPr sz="1600" dirty="0"/>
              <a:t>Standard pharmaceutical blister packs offer zero adherence tracking or digital compliance feedback.</a:t>
            </a:r>
          </a:p>
          <a:p>
            <a:pPr marL="457200" indent="-4572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1700">
                <a:solidFill>
                  <a:srgbClr val="000000"/>
                </a:solidFill>
                <a:latin typeface="Arial"/>
              </a:defRPr>
            </a:pPr>
            <a:r>
              <a:rPr sz="1600" dirty="0"/>
              <a:t>Smartphone reminder apps suffer &gt;80% drop-off because users check off alarms without swallowing pills.</a:t>
            </a:r>
          </a:p>
          <a:p>
            <a:pPr marL="457200" indent="-4572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1700">
                <a:solidFill>
                  <a:srgbClr val="000000"/>
                </a:solidFill>
                <a:latin typeface="Arial"/>
              </a:defRPr>
            </a:pPr>
            <a:r>
              <a:rPr sz="1600" dirty="0"/>
              <a:t>Existing electronic dispensers require tedious manual pill decanting, exposing them to humidity and contamination.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22924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</a:rPr>
              <a:t>Our Approach</a:t>
            </a:r>
            <a:r>
              <a:rPr lang="en-IN" dirty="0">
                <a:latin typeface="Times New Roman" panose="02020603050405020304" pitchFamily="18" charset="0"/>
              </a:rPr>
              <a:t>:</a:t>
            </a: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4842158"/>
            <a:ext cx="100584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1750" dirty="0"/>
              <a:t>A reusable, non-invasive smart clip that attaches directly to commercial pharmaceutical blister packs to detect the physical pressure spike (</a:t>
            </a:r>
            <a:r>
              <a:rPr sz="1750" dirty="0" err="1"/>
              <a:t>Δp</a:t>
            </a:r>
            <a:r>
              <a:rPr sz="1750" dirty="0"/>
              <a:t> ≥ 1.2 bar) of pill expulsion through foil in real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43457"/>
            <a:ext cx="182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</a:rPr>
              <a:t>Observation</a:t>
            </a:r>
            <a:r>
              <a:rPr lang="en-IN" sz="2000" dirty="0">
                <a:latin typeface="Times New Roman" panose="02020603050405020304" pitchFamily="18" charset="0"/>
              </a:rPr>
              <a:t>:</a:t>
            </a:r>
            <a:endParaRPr sz="2000" dirty="0">
              <a:latin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1175" y="5867553"/>
            <a:ext cx="1069848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Arial"/>
              </a:defRPr>
            </a:pPr>
            <a:r>
              <a:rPr dirty="0"/>
              <a:t>Existing adherence solutions either force destructive pill decanting (smart bottles/carousels) or require hazardous, expensive single-use disposable electronics (conductive foil traces).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447639"/>
              </p:ext>
            </p:extLst>
          </p:nvPr>
        </p:nvGraphicFramePr>
        <p:xfrm>
          <a:off x="751175" y="1150126"/>
          <a:ext cx="10996068" cy="406934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49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9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90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90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468">
                <a:tc>
                  <a:txBody>
                    <a:bodyPr/>
                    <a:lstStyle/>
                    <a:p>
                      <a:r>
                        <a:rPr sz="1400"/>
                        <a:t>Existing Solution / Paper: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Existing Approach: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Technology: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Key Limitation: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0828">
                <a:tc>
                  <a:txBody>
                    <a:bodyPr/>
                    <a:lstStyle/>
                    <a:p>
                      <a:r>
                        <a:rPr sz="1400"/>
                        <a:t>Pillsy / AdhereTech (Smart Bottles)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Bottle cap-open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Reed switch / capacitive 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Incompatible with blister packs; loose pills only.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713">
                <a:tc>
                  <a:txBody>
                    <a:bodyPr/>
                    <a:lstStyle/>
                    <a:p>
                      <a:r>
                        <a:rPr sz="1400" dirty="0"/>
                        <a:t>Hero / Med-e-Lert (Electronic Organizers)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Motorized carousel dispensing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Optical drop sensor + carousel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Bulky tabletop unit ($200+); requires manual pill decanting.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0668">
                <a:tc>
                  <a:txBody>
                    <a:bodyPr/>
                    <a:lstStyle/>
                    <a:p>
                      <a:r>
                        <a:rPr sz="1400"/>
                        <a:t>Printed Conductive Traces (Smart Foils)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Foil rupture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Printed silver ink circuit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Single-use disposable electronics; high recurring pack cost &amp; e-waste.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0668">
                <a:tc>
                  <a:txBody>
                    <a:bodyPr/>
                    <a:lstStyle/>
                    <a:p>
                      <a:r>
                        <a:rPr sz="1400"/>
                        <a:t>MedStrip (Proposed System)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Non-invasive reusable clip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ESP32-C3 + FSR pressure 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Requires calibration over standard cavity spacing (Zero decanting &amp; zero waste).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640080" y="502920"/>
            <a:ext cx="1088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</a:rPr>
              <a:t>CHALLENGES &amp; RESEARCH GAP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849870" y="954458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</a:rPr>
              <a:t>Challenges</a:t>
            </a:r>
            <a:r>
              <a:rPr lang="en-IN" dirty="0">
                <a:latin typeface="Times New Roman" panose="02020603050405020304" pitchFamily="18" charset="0"/>
              </a:rPr>
              <a:t>:</a:t>
            </a: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5056" y="5286692"/>
            <a:ext cx="10149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1600" dirty="0"/>
              <a:t>Existing medication monitoring solutions do not adequately address non-invasive, reusable adherence monitoring directly on commercial pharmaceutical blister packaging without requiring manual decanting or single-use disposable electronics.</a:t>
            </a:r>
            <a:endParaRPr dirty="0"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05854" y="4862294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</a:rPr>
              <a:t>Research Gap</a:t>
            </a:r>
            <a:r>
              <a:rPr lang="en-IN" dirty="0">
                <a:latin typeface="Times New Roman" panose="02020603050405020304" pitchFamily="18" charset="0"/>
              </a:rPr>
              <a:t>:</a:t>
            </a: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905854" y="1354568"/>
            <a:ext cx="983621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sz="1700" dirty="0"/>
              <a:t>The 'Decanting' Dilemma</a:t>
            </a:r>
            <a:br>
              <a:rPr sz="1700" dirty="0"/>
            </a:br>
            <a:r>
              <a:rPr sz="1700" dirty="0"/>
              <a:t>Transferring pills from blister foils to weekly boxes causes oxidation, moisture damage, and high patient friction.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sz="1700" dirty="0"/>
              <a:t>Pressure Signal Discrimination</a:t>
            </a:r>
            <a:br>
              <a:rPr sz="1700" dirty="0"/>
            </a:br>
            <a:r>
              <a:rPr sz="1700" dirty="0"/>
              <a:t>Filtering incidental pocket/bag bumps from the localized pressure spike (</a:t>
            </a:r>
            <a:r>
              <a:rPr sz="1700" dirty="0" err="1"/>
              <a:t>Δp</a:t>
            </a:r>
            <a:r>
              <a:rPr sz="1700" dirty="0"/>
              <a:t> ≥ 1.2 bar) of genuine pill expulsion.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sz="1700" dirty="0"/>
              <a:t>Ultra-Low Power Constraints</a:t>
            </a:r>
            <a:br>
              <a:rPr sz="1700" dirty="0"/>
            </a:br>
            <a:r>
              <a:rPr sz="1700" dirty="0"/>
              <a:t>Sustaining multi-week operation on a miniature 180 </a:t>
            </a:r>
            <a:r>
              <a:rPr sz="1700" dirty="0" err="1"/>
              <a:t>mAh</a:t>
            </a:r>
            <a:r>
              <a:rPr sz="1700" dirty="0"/>
              <a:t> LiPo using deep-sleep (&lt;15 µA) and BLE 5.2.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sz="1700" dirty="0"/>
              <a:t>Multi-Cavity Array Alignment</a:t>
            </a:r>
            <a:br>
              <a:rPr sz="1700" dirty="0"/>
            </a:br>
            <a:r>
              <a:rPr sz="1700" dirty="0"/>
              <a:t>Accommodating varied commercial blister pack pitches with modular 8-channel piezoresistive sensing.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sz="1700" dirty="0"/>
              <a:t>Real-Time Digital Twin Sync</a:t>
            </a:r>
            <a:br>
              <a:rPr sz="1700" dirty="0"/>
            </a:br>
            <a:r>
              <a:rPr sz="1700" dirty="0"/>
              <a:t>Synchronizing physical expulsion events with clinical audit logs and patient mobile schedules with zero latency.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9640" y="1170992"/>
            <a:ext cx="10332720" cy="3053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1600"/>
              </a:spcAft>
              <a:buFont typeface="+mj-lt"/>
              <a:buAutoNum type="arabicPeriod"/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Design an ergonomic, reusable mechanical clip compatible with standard commercial blister packaging (0.4mm to 1.8mm).</a:t>
            </a:r>
          </a:p>
          <a:p>
            <a:pPr marL="457200" indent="-457200">
              <a:lnSpc>
                <a:spcPct val="150000"/>
              </a:lnSpc>
              <a:spcAft>
                <a:spcPts val="1600"/>
              </a:spcAft>
              <a:buFont typeface="+mj-lt"/>
              <a:buAutoNum type="arabicPeriod"/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Develop an 8-channel flexible piezoresistive force sensor array to detect analog pressure gradients across individual cavities.</a:t>
            </a:r>
          </a:p>
          <a:p>
            <a:pPr marL="457200" indent="-457200">
              <a:lnSpc>
                <a:spcPct val="150000"/>
              </a:lnSpc>
              <a:spcAft>
                <a:spcPts val="1600"/>
              </a:spcAft>
              <a:buFont typeface="+mj-lt"/>
              <a:buAutoNum type="arabicPeriod"/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Implement low-power ESP32-C3 firmware featuring edge baseline auto-calibration and BLE 5.2 GATT telemetry (0x180D).</a:t>
            </a:r>
          </a:p>
          <a:p>
            <a:pPr marL="457200" indent="-457200">
              <a:lnSpc>
                <a:spcPct val="150000"/>
              </a:lnSpc>
              <a:spcAft>
                <a:spcPts val="1600"/>
              </a:spcAft>
              <a:buFont typeface="+mj-lt"/>
              <a:buAutoNum type="arabicPeriod"/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Build a real-time web telemetry dashboard and native-feel mobile interface with live laptop time synchronization.</a:t>
            </a:r>
          </a:p>
          <a:p>
            <a:pPr marL="457200" indent="-457200">
              <a:lnSpc>
                <a:spcPct val="150000"/>
              </a:lnSpc>
              <a:spcAft>
                <a:spcPts val="1600"/>
              </a:spcAft>
              <a:buFont typeface="+mj-lt"/>
              <a:buAutoNum type="arabicPeriod"/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Validate the Phase 1 working prototype with live digital twin deformation and immutable adherence audit logging.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</a:rPr>
              <a:t>PROPOSED METHODOLOGY &amp;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640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</a:defRPr>
            </a:pPr>
            <a:r>
              <a:rPr lang="en-IN" sz="2000" dirty="0">
                <a:latin typeface="Times New Roman" panose="02020603050405020304" pitchFamily="18" charset="0"/>
              </a:rPr>
              <a:t>System Architecture:</a:t>
            </a:r>
          </a:p>
        </p:txBody>
      </p:sp>
      <p:pic>
        <p:nvPicPr>
          <p:cNvPr id="5" name="Picture 4" descr="media_17901313753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867" y="1931726"/>
            <a:ext cx="9691785" cy="44644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</a:rPr>
              <a:t>PROPOSED METHODOLOGY &amp;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233" y="1230916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</a:defRPr>
            </a:pPr>
            <a:r>
              <a:rPr lang="en-IN" sz="2000" dirty="0">
                <a:latin typeface="Times New Roman" panose="02020603050405020304" pitchFamily="18" charset="0"/>
              </a:rPr>
              <a:t>Working Sequence: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9424" y="1817490"/>
            <a:ext cx="10777955" cy="395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t>Clamp &amp; Calibrate</a:t>
            </a:r>
            <a:br/>
            <a:r>
              <a:t>Clip attaches to fresh blister pack; ESP32-C3 measures baseline resistance across all 8 FSR channels.</a:t>
            </a:r>
          </a:p>
          <a:p>
            <a:pPr marL="342900" indent="-342900">
              <a:buFont typeface="+mj-lt"/>
              <a:buAutoNum type="arabicPeriod"/>
            </a:pPr>
            <a:r>
              <a:t>Sense Pressure</a:t>
            </a:r>
            <a:br/>
            <a:r>
              <a:t>Patient pushes tablet; localized piezoresistive sensor records dynamic force curve.</a:t>
            </a:r>
          </a:p>
          <a:p>
            <a:pPr marL="342900" indent="-342900">
              <a:buFont typeface="+mj-lt"/>
              <a:buAutoNum type="arabicPeriod"/>
            </a:pPr>
            <a:r>
              <a:t>Discriminate on Edge</a:t>
            </a:r>
            <a:br/>
            <a:r>
              <a:t>Firmware verifies pressure delta (Δp ≥ 1.2 bar) exceeds threshold, rejecting handling artifacts.</a:t>
            </a:r>
          </a:p>
          <a:p>
            <a:pPr marL="342900" indent="-342900">
              <a:buFont typeface="+mj-lt"/>
              <a:buAutoNum type="arabicPeriod"/>
            </a:pPr>
            <a:r>
              <a:t>Transmit Event</a:t>
            </a:r>
            <a:br/>
            <a:r>
              <a:t>ESP32-C3 wakes from deep sleep and fires BLE 5.2 GATT notification (0x180D) with cavity index and timestamp.</a:t>
            </a:r>
          </a:p>
          <a:p>
            <a:pPr marL="342900" indent="-342900">
              <a:buFont typeface="+mj-lt"/>
              <a:buAutoNum type="arabicPeriod"/>
            </a:pPr>
            <a:r>
              <a:t>Update Digital Twin</a:t>
            </a:r>
            <a:br/>
            <a:r>
              <a:t>MedStrip web dashboard and mobile app animate foil cavity puncture in real time.</a:t>
            </a:r>
          </a:p>
          <a:p>
            <a:pPr marL="342900" indent="-342900">
              <a:buFont typeface="+mj-lt"/>
              <a:buAutoNum type="arabicPeriod"/>
            </a:pPr>
            <a:r>
              <a:t>Log Compliance</a:t>
            </a:r>
            <a:br/>
            <a:r>
              <a:t>Audit stream records verified dose timestamp, updating patient adherence score (100%).</a:t>
            </a:r>
          </a:p>
          <a:p>
            <a:pPr marL="342900" indent="-342900">
              <a:buFont typeface="+mj-lt"/>
              <a:buAutoNum type="arabicPeriod"/>
            </a:pPr>
            <a:r>
              <a:t>Alert &amp; Remind</a:t>
            </a:r>
            <a:br/>
            <a:r>
              <a:t>If scheduled dose window elapses without physical expulsion, patient receives multi-channel reminder alert.</a:t>
            </a:r>
          </a:p>
        </p:txBody>
      </p:sp>
    </p:spTree>
    <p:extLst>
      <p:ext uri="{BB962C8B-B14F-4D97-AF65-F5344CB8AC3E}">
        <p14:creationId xmlns:p14="http://schemas.microsoft.com/office/powerpoint/2010/main" val="2101003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</a:rPr>
              <a:t>INITIAL IMPLEMENTATION</a:t>
            </a:r>
            <a:r>
              <a:rPr lang="en-IN" dirty="0">
                <a:latin typeface="Times New Roman" panose="02020603050405020304" pitchFamily="18" charset="0"/>
              </a:rPr>
              <a:t>/RESULTS</a:t>
            </a:r>
            <a:endParaRPr dirty="0">
              <a:latin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880623"/>
              </p:ext>
            </p:extLst>
          </p:nvPr>
        </p:nvGraphicFramePr>
        <p:xfrm>
          <a:off x="1480518" y="1434277"/>
          <a:ext cx="9374654" cy="457891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687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7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5261">
                <a:tc>
                  <a:txBody>
                    <a:bodyPr/>
                    <a:lstStyle/>
                    <a:p>
                      <a:r>
                        <a:rPr sz="1400"/>
                        <a:t>Module: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Implementation: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207">
                <a:tc>
                  <a:txBody>
                    <a:bodyPr/>
                    <a:lstStyle/>
                    <a:p>
                      <a:r>
                        <a:rPr sz="1400"/>
                        <a:t>Telemetry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Real-time adherence monitoring, pill counter (7/8), and compliance scoring (100%)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207">
                <a:tc>
                  <a:txBody>
                    <a:bodyPr/>
                    <a:lstStyle/>
                    <a:p>
                      <a:r>
                        <a:rPr sz="1400" dirty="0"/>
                        <a:t>Blister Digital Twin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Live visual twin mirroring intact vs punctured foil cavities with deformation physics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207">
                <a:tc>
                  <a:txBody>
                    <a:bodyPr/>
                    <a:lstStyle/>
                    <a:p>
                      <a:r>
                        <a:rPr sz="1400"/>
                        <a:t>Sensor Telemetry Simulation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Real-time ADC strain gauge data received via BLE GATT channel 0x180D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207">
                <a:tc>
                  <a:txBody>
                    <a:bodyPr/>
                    <a:lstStyle/>
                    <a:p>
                      <a:r>
                        <a:rPr sz="1400"/>
                        <a:t>Laptop Time Synchronization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Live system clock integration ticking with laptop time or 1-click evaluation presets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207">
                <a:tc>
                  <a:txBody>
                    <a:bodyPr/>
                    <a:lstStyle/>
                    <a:p>
                      <a:r>
                        <a:rPr sz="1400"/>
                        <a:t>Simulate Dose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Interactive button triggering physical expulsion event and pressure spike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207">
                <a:tc>
                  <a:txBody>
                    <a:bodyPr/>
                    <a:lstStyle/>
                    <a:p>
                      <a:r>
                        <a:rPr sz="1400"/>
                        <a:t>Medication Routine Editor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Customizable morning, afternoon, and night regimen schedule manager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207">
                <a:tc>
                  <a:txBody>
                    <a:bodyPr/>
                    <a:lstStyle/>
                    <a:p>
                      <a:r>
                        <a:rPr sz="1400"/>
                        <a:t>ESP32 Hardware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BLE connection hub with live GATT packet console and signal RSSI diagnostics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4207">
                <a:tc>
                  <a:txBody>
                    <a:bodyPr/>
                    <a:lstStyle/>
                    <a:p>
                      <a:r>
                        <a:rPr sz="1400" dirty="0"/>
                        <a:t>Audit Activity 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Cryptographically signed immutable record of all verified dose expulsions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1026140"/>
            <a:ext cx="6229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Initial Software Prototype — MedStrip:</a:t>
            </a:r>
          </a:p>
          <a:p>
            <a:endParaRPr lang="en-IN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A2B44A-0D2D-2957-A112-60E93D3A12AE}"/>
              </a:ext>
            </a:extLst>
          </p:cNvPr>
          <p:cNvSpPr txBox="1"/>
          <p:nvPr/>
        </p:nvSpPr>
        <p:spPr>
          <a:xfrm>
            <a:off x="720634" y="1393106"/>
            <a:ext cx="102173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Arial"/>
              </a:defRPr>
            </a:pPr>
            <a:r>
              <a:rPr dirty="0"/>
              <a:t>Software &amp; Digital Twin Prototype: COMPLETED </a:t>
            </a:r>
            <a:r>
              <a:rPr lang="en-IN" dirty="0"/>
              <a:t>(changes maybe done depending on the model’s execution)</a:t>
            </a:r>
          </a:p>
          <a:p>
            <a:pPr algn="l">
              <a:defRPr sz="1600" b="0">
                <a:solidFill>
                  <a:srgbClr val="000000"/>
                </a:solidFill>
                <a:latin typeface="Arial"/>
              </a:defRPr>
            </a:pPr>
            <a:br>
              <a:rPr dirty="0"/>
            </a:br>
            <a:r>
              <a:rPr dirty="0"/>
              <a:t>Physical Sensor </a:t>
            </a:r>
            <a:r>
              <a:rPr lang="en-IN" dirty="0"/>
              <a:t>&amp; BLE GATT Telemetry(dummy connection and values inserted) </a:t>
            </a:r>
            <a:r>
              <a:rPr dirty="0"/>
              <a:t>: </a:t>
            </a:r>
            <a:endParaRPr lang="en-IN" dirty="0"/>
          </a:p>
          <a:p>
            <a:pPr algn="l">
              <a:defRPr sz="1600" b="0">
                <a:solidFill>
                  <a:srgbClr val="000000"/>
                </a:solidFill>
                <a:latin typeface="Arial"/>
              </a:defRPr>
            </a:pPr>
            <a:r>
              <a:rPr lang="en-IN" dirty="0"/>
              <a:t>		</a:t>
            </a:r>
            <a:r>
              <a:rPr dirty="0"/>
              <a:t>SIMULATED WITH REAL WEB BLUETOOTH PAIRING</a:t>
            </a:r>
            <a:endParaRPr lang="en-IN" dirty="0"/>
          </a:p>
          <a:p>
            <a:pPr algn="l">
              <a:defRPr sz="1600" b="0">
                <a:solidFill>
                  <a:srgbClr val="000000"/>
                </a:solidFill>
                <a:latin typeface="Arial"/>
              </a:defRPr>
            </a:pPr>
            <a:br>
              <a:rPr dirty="0"/>
            </a:br>
            <a:r>
              <a:rPr dirty="0"/>
              <a:t>Next: PCB fabrication → flexible FSR strip integration → battery enclosure 3D printing → clinical trial validation</a:t>
            </a:r>
            <a:endParaRPr lang="en-IN" dirty="0"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51DF40-F41B-7A24-9017-FD164F53ECB2}"/>
              </a:ext>
            </a:extLst>
          </p:cNvPr>
          <p:cNvSpPr txBox="1"/>
          <p:nvPr/>
        </p:nvSpPr>
        <p:spPr>
          <a:xfrm>
            <a:off x="583471" y="715729"/>
            <a:ext cx="3230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</a:rPr>
              <a:t>Current Status:</a:t>
            </a:r>
          </a:p>
        </p:txBody>
      </p:sp>
    </p:spTree>
    <p:extLst>
      <p:ext uri="{BB962C8B-B14F-4D97-AF65-F5344CB8AC3E}">
        <p14:creationId xmlns:p14="http://schemas.microsoft.com/office/powerpoint/2010/main" val="967543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" descr="blob:https://web.whatsapp.com/59bd58f9-7eb9-40e1-a807-38adcffcd7f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4" descr="blob:https://web.whatsapp.com/59bd58f9-7eb9-40e1-a807-38adcffcd7fc"/>
          <p:cNvSpPr>
            <a:spLocks noChangeAspect="1" noChangeArrowheads="1"/>
          </p:cNvSpPr>
          <p:nvPr/>
        </p:nvSpPr>
        <p:spPr bwMode="auto">
          <a:xfrm>
            <a:off x="460375" y="55155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7240049" y="4121640"/>
            <a:ext cx="431464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MedStrip Web Dashboard: Live browser-based clinical oversight dashboard featuring digital twin and real-time metrics.</a:t>
            </a:r>
          </a:p>
          <a:p>
            <a:r>
              <a:t>MedStrip Mobile Prototype: Uncramped 2x2 metric layout, dedicated bottom navigation, and live laptop time sync controller.</a:t>
            </a:r>
          </a:p>
          <a:p>
            <a:pPr>
              <a:defRPr sz="1600" b="0">
                <a:solidFill>
                  <a:srgbClr val="000000"/>
                </a:solidFill>
                <a:latin typeface="Arial"/>
              </a:defRPr>
            </a:pPr>
            <a:r>
              <a:t>Current prototype features full interactive simulation with Web Bluetooth hardware pairing ready for PCB deployment.</a:t>
            </a:r>
          </a:p>
          <a:p>
            <a:pPr>
              <a:defRPr sz="1600" b="0">
                <a:solidFill>
                  <a:srgbClr val="000000"/>
                </a:solidFill>
                <a:latin typeface="Arial"/>
              </a:defRPr>
            </a:pPr>
            <a:endParaRPr lang="en-US" dirty="0">
              <a:latin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 descr="media_17901314227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740223"/>
            <a:ext cx="6211194" cy="2817139"/>
          </a:xfrm>
          <a:prstGeom prst="rect">
            <a:avLst/>
          </a:prstGeom>
        </p:spPr>
      </p:pic>
      <p:pic>
        <p:nvPicPr>
          <p:cNvPr id="14" name="Picture 13" descr="media_17901316168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98" y="3557362"/>
            <a:ext cx="6211194" cy="2440774"/>
          </a:xfrm>
          <a:prstGeom prst="rect">
            <a:avLst/>
          </a:prstGeom>
        </p:spPr>
      </p:pic>
      <p:pic>
        <p:nvPicPr>
          <p:cNvPr id="15" name="Picture 14" descr="media_17901316725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4746" y="97221"/>
            <a:ext cx="1893113" cy="386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185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8BDB12-8A06-721E-1C4F-33C4B442A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F33358-54C0-5891-882A-B2FB37C57752}"/>
              </a:ext>
            </a:extLst>
          </p:cNvPr>
          <p:cNvSpPr txBox="1"/>
          <p:nvPr/>
        </p:nvSpPr>
        <p:spPr>
          <a:xfrm>
            <a:off x="640080" y="502920"/>
            <a:ext cx="1088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072F80-3316-3DC8-4BFD-4FF8A82BA8A6}"/>
              </a:ext>
            </a:extLst>
          </p:cNvPr>
          <p:cNvSpPr txBox="1"/>
          <p:nvPr/>
        </p:nvSpPr>
        <p:spPr>
          <a:xfrm>
            <a:off x="929640" y="1121229"/>
            <a:ext cx="10332720" cy="3053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1600"/>
              </a:spcAft>
              <a:buFont typeface="+mj-lt"/>
              <a:buAutoNum type="arabicPeriod"/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Design an ergonomic, reusable mechanical clip compatible with standard commercial blister packaging (0.4mm to 1.8mm).</a:t>
            </a:r>
          </a:p>
          <a:p>
            <a:pPr marL="457200" indent="-457200">
              <a:lnSpc>
                <a:spcPct val="150000"/>
              </a:lnSpc>
              <a:spcAft>
                <a:spcPts val="1600"/>
              </a:spcAft>
              <a:buFont typeface="+mj-lt"/>
              <a:buAutoNum type="arabicPeriod"/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Develop an 8-channel flexible piezoresistive force sensor array to detect analog pressure gradients across individual cavities.</a:t>
            </a:r>
          </a:p>
          <a:p>
            <a:pPr marL="457200" indent="-457200">
              <a:lnSpc>
                <a:spcPct val="150000"/>
              </a:lnSpc>
              <a:spcAft>
                <a:spcPts val="1600"/>
              </a:spcAft>
              <a:buFont typeface="+mj-lt"/>
              <a:buAutoNum type="arabicPeriod"/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Implement low-power ESP32-C3 firmware featuring edge baseline auto-calibration and BLE 5.2 GATT telemetry (0x180D).</a:t>
            </a:r>
          </a:p>
          <a:p>
            <a:pPr marL="457200" indent="-457200">
              <a:lnSpc>
                <a:spcPct val="150000"/>
              </a:lnSpc>
              <a:spcAft>
                <a:spcPts val="1600"/>
              </a:spcAft>
              <a:buFont typeface="+mj-lt"/>
              <a:buAutoNum type="arabicPeriod"/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Build a real-time web telemetry dashboard and native-feel mobile interface with live laptop time synchronization.</a:t>
            </a:r>
          </a:p>
          <a:p>
            <a:pPr marL="457200" indent="-457200">
              <a:lnSpc>
                <a:spcPct val="150000"/>
              </a:lnSpc>
              <a:spcAft>
                <a:spcPts val="1600"/>
              </a:spcAft>
              <a:buFont typeface="+mj-lt"/>
              <a:buAutoNum type="arabicPeriod"/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Validate the Phase 1 working prototype with live digital twin deformation and immutable adherence audit logging.</a:t>
            </a:r>
          </a:p>
        </p:txBody>
      </p:sp>
    </p:spTree>
    <p:extLst>
      <p:ext uri="{BB962C8B-B14F-4D97-AF65-F5344CB8AC3E}">
        <p14:creationId xmlns:p14="http://schemas.microsoft.com/office/powerpoint/2010/main" val="3056981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1C723-184E-FAE3-58B7-F657070C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9F4210-C635-6E8E-7259-872B7249CC7E}"/>
              </a:ext>
            </a:extLst>
          </p:cNvPr>
          <p:cNvSpPr txBox="1"/>
          <p:nvPr/>
        </p:nvSpPr>
        <p:spPr>
          <a:xfrm>
            <a:off x="655320" y="363583"/>
            <a:ext cx="1088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rPr lang="en-US" dirty="0">
                <a:latin typeface="Times New Roman" panose="02020603050405020304" pitchFamily="18" charset="0"/>
              </a:rPr>
              <a:t>REFERENCES</a:t>
            </a: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B41A61-80B0-1D35-6D27-4C75F7B63797}"/>
              </a:ext>
            </a:extLst>
          </p:cNvPr>
          <p:cNvSpPr txBox="1"/>
          <p:nvPr/>
        </p:nvSpPr>
        <p:spPr>
          <a:xfrm>
            <a:off x="655320" y="1025434"/>
            <a:ext cx="10269583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Research Papers</a:t>
            </a:r>
          </a:p>
          <a:p>
            <a:pPr>
              <a:spcAft>
                <a:spcPts val="16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1. World Health Organization (WHO), Adherence to Long-Term Therapies: Evidence for Action, 2003.</a:t>
            </a:r>
          </a:p>
          <a:p>
            <a:pPr>
              <a:spcAft>
                <a:spcPts val="16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2. </a:t>
            </a:r>
            <a:r>
              <a:rPr dirty="0" err="1"/>
              <a:t>Aldeer</a:t>
            </a:r>
            <a:r>
              <a:rPr dirty="0"/>
              <a:t>, M. et al., A Review on IoT-Based Medication Adherence Systems, IEEE Internet of Things Journal, 2018.</a:t>
            </a:r>
          </a:p>
          <a:p>
            <a:pPr>
              <a:spcAft>
                <a:spcPts val="16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3. Arnet, I. et al., Electronic Monitoring of Medication Adherence in Clinical Practice, Frontiers in Pharmacology, 2016.</a:t>
            </a:r>
          </a:p>
          <a:p>
            <a:pPr>
              <a:spcAft>
                <a:spcPts val="16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4. ESP32-C3 Series Datasheet &amp; BLE 5.2 Technical Reference Manual, </a:t>
            </a:r>
            <a:r>
              <a:rPr dirty="0" err="1"/>
              <a:t>Espressif</a:t>
            </a:r>
            <a:r>
              <a:rPr dirty="0"/>
              <a:t> Systems, 2024.</a:t>
            </a:r>
          </a:p>
          <a:p>
            <a:pPr>
              <a:spcAft>
                <a:spcPts val="16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Patent / Prior-Art References</a:t>
            </a:r>
          </a:p>
          <a:p>
            <a:pPr>
              <a:spcAft>
                <a:spcPts val="16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5. US9690910B2 — Medication Packaging with Adherence Monitoring Sensors.</a:t>
            </a:r>
          </a:p>
          <a:p>
            <a:pPr>
              <a:spcAft>
                <a:spcPts val="16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6. US10251817B2 — Smart Blister Pack Assembly and Detection Mechanism.</a:t>
            </a:r>
          </a:p>
          <a:p>
            <a:pPr>
              <a:spcAft>
                <a:spcPts val="16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7. US20190133887A1 — Force-Sensing Resistor Array for Pharmaceutical Dispensing.</a:t>
            </a:r>
          </a:p>
          <a:p>
            <a:pPr>
              <a:spcAft>
                <a:spcPts val="16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8. US11083670B2 — Non-Invasive Medication Compliance Monitoring System.</a:t>
            </a:r>
          </a:p>
        </p:txBody>
      </p:sp>
    </p:spTree>
    <p:extLst>
      <p:ext uri="{BB962C8B-B14F-4D97-AF65-F5344CB8AC3E}">
        <p14:creationId xmlns:p14="http://schemas.microsoft.com/office/powerpoint/2010/main" val="3645877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838DF3-5CAD-A10A-1BCD-2372B03D0AE3}"/>
              </a:ext>
            </a:extLst>
          </p:cNvPr>
          <p:cNvSpPr txBox="1"/>
          <p:nvPr/>
        </p:nvSpPr>
        <p:spPr>
          <a:xfrm>
            <a:off x="865296" y="615370"/>
            <a:ext cx="2139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APPROVAL </a:t>
            </a:r>
          </a:p>
        </p:txBody>
      </p:sp>
    </p:spTree>
    <p:extLst>
      <p:ext uri="{BB962C8B-B14F-4D97-AF65-F5344CB8AC3E}">
        <p14:creationId xmlns:p14="http://schemas.microsoft.com/office/powerpoint/2010/main" val="3219630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6325" y="2648540"/>
            <a:ext cx="101609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00576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1210</Words>
  <Application>Microsoft Office PowerPoint</Application>
  <PresentationFormat>Widescreen</PresentationFormat>
  <Paragraphs>128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Kanishka Jayakumar</dc:creator>
  <cp:keywords/>
  <dc:description>generated using python-pptx</dc:description>
  <cp:lastModifiedBy>akhilesh012008@outlook.com</cp:lastModifiedBy>
  <cp:revision>16</cp:revision>
  <dcterms:created xsi:type="dcterms:W3CDTF">2013-01-27T09:14:16Z</dcterms:created>
  <dcterms:modified xsi:type="dcterms:W3CDTF">2026-09-23T06:31:11Z</dcterms:modified>
  <cp:category/>
</cp:coreProperties>
</file>